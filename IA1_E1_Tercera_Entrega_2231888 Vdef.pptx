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71" r:id="rId15"/>
    <p:sldId id="268" r:id="rId16"/>
    <p:sldId id="269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ln w="25400" cap="flat">
              <a:solidFill>
                <a:srgbClr val="1A4E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4E8A"/>
              </a:solidFill>
              <a:ln w="9525" cap="flat">
                <a:solidFill>
                  <a:srgbClr val="1A4E8A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1e-12</c:v>
                </c:pt>
                <c:pt idx="1">
                  <c:v>1e-10</c:v>
                </c:pt>
                <c:pt idx="2">
                  <c:v>1e-9</c:v>
                </c:pt>
                <c:pt idx="3">
                  <c:v>1e-8</c:v>
                </c:pt>
                <c:pt idx="4">
                  <c:v>1e-6</c:v>
                </c:pt>
                <c:pt idx="5">
                  <c:v>1e-4</c:v>
                </c:pt>
                <c:pt idx="6">
                  <c:v>1e-2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0.68469999999999998</c:v>
                </c:pt>
                <c:pt idx="1">
                  <c:v>0.68469999999999998</c:v>
                </c:pt>
                <c:pt idx="2">
                  <c:v>0.68469999999999998</c:v>
                </c:pt>
                <c:pt idx="3">
                  <c:v>0.68469999999999998</c:v>
                </c:pt>
                <c:pt idx="4">
                  <c:v>0.68469999999999998</c:v>
                </c:pt>
                <c:pt idx="5">
                  <c:v>0.68469999999999998</c:v>
                </c:pt>
                <c:pt idx="6">
                  <c:v>0.68320000000000003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53-4E7B-BB9C-E1BFFE44F7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ln w="25400" cap="flat">
              <a:solidFill>
                <a:srgbClr val="009B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B8D"/>
              </a:solidFill>
              <a:ln w="9525" cap="flat">
                <a:solidFill>
                  <a:srgbClr val="009B8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1e-12</c:v>
                </c:pt>
                <c:pt idx="1">
                  <c:v>1e-10</c:v>
                </c:pt>
                <c:pt idx="2">
                  <c:v>1e-9</c:v>
                </c:pt>
                <c:pt idx="3">
                  <c:v>1e-8</c:v>
                </c:pt>
                <c:pt idx="4">
                  <c:v>1e-6</c:v>
                </c:pt>
                <c:pt idx="5">
                  <c:v>1e-4</c:v>
                </c:pt>
                <c:pt idx="6">
                  <c:v>1e-2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0.68620000000000003</c:v>
                </c:pt>
                <c:pt idx="1">
                  <c:v>0.68620000000000003</c:v>
                </c:pt>
                <c:pt idx="2">
                  <c:v>0.68620000000000003</c:v>
                </c:pt>
                <c:pt idx="3">
                  <c:v>0.68620000000000003</c:v>
                </c:pt>
                <c:pt idx="4">
                  <c:v>0.68620000000000003</c:v>
                </c:pt>
                <c:pt idx="5">
                  <c:v>0.68620000000000003</c:v>
                </c:pt>
                <c:pt idx="6">
                  <c:v>0.68479999999999996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653-4E7B-BB9C-E1BFFE44F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6"/>
        </c:scaling>
        <c:delete val="0"/>
        <c:axPos val="l"/>
        <c:majorGridlines>
          <c:spPr>
            <a:ln w="6350" cap="flat">
              <a:solidFill>
                <a:srgbClr val="D0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(gini)</c:v>
                </c:pt>
              </c:strCache>
            </c:strRef>
          </c:tx>
          <c:spPr>
            <a:ln w="25400" cap="flat">
              <a:solidFill>
                <a:srgbClr val="E595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952C"/>
              </a:solidFill>
              <a:ln w="9525" cap="flat">
                <a:solidFill>
                  <a:srgbClr val="E5952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10</c:v>
                </c:pt>
                <c:pt idx="4">
                  <c:v>15</c:v>
                </c:pt>
                <c:pt idx="5">
                  <c:v>20</c:v>
                </c:pt>
                <c:pt idx="6">
                  <c:v>None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0.69950000000000001</c:v>
                </c:pt>
                <c:pt idx="1">
                  <c:v>0.70169999999999999</c:v>
                </c:pt>
                <c:pt idx="2">
                  <c:v>0.69289999999999996</c:v>
                </c:pt>
                <c:pt idx="3">
                  <c:v>0.6845</c:v>
                </c:pt>
                <c:pt idx="4">
                  <c:v>0.68810000000000004</c:v>
                </c:pt>
                <c:pt idx="5">
                  <c:v>0.63839999999999997</c:v>
                </c:pt>
                <c:pt idx="6">
                  <c:v>0.60799999999999998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40-45A8-9F48-656C64C364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(entropy)</c:v>
                </c:pt>
              </c:strCache>
            </c:strRef>
          </c:tx>
          <c:spPr>
            <a:ln w="25400" cap="flat">
              <a:solidFill>
                <a:srgbClr val="B850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10</c:v>
                </c:pt>
                <c:pt idx="4">
                  <c:v>15</c:v>
                </c:pt>
                <c:pt idx="5">
                  <c:v>20</c:v>
                </c:pt>
                <c:pt idx="6">
                  <c:v>None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0.69950000000000001</c:v>
                </c:pt>
                <c:pt idx="1">
                  <c:v>0.70130000000000003</c:v>
                </c:pt>
                <c:pt idx="2">
                  <c:v>0.69240000000000002</c:v>
                </c:pt>
                <c:pt idx="3">
                  <c:v>0.68779999999999997</c:v>
                </c:pt>
                <c:pt idx="4">
                  <c:v>0.67400000000000004</c:v>
                </c:pt>
                <c:pt idx="5">
                  <c:v>0.65429999999999999</c:v>
                </c:pt>
                <c:pt idx="6">
                  <c:v>0.61019999999999996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40-45A8-9F48-656C64C36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2"/>
          <c:min val="0.57999999999999996"/>
        </c:scaling>
        <c:delete val="0"/>
        <c:axPos val="l"/>
        <c:majorGridlines>
          <c:spPr>
            <a:ln w="6350" cap="flat">
              <a:solidFill>
                <a:srgbClr val="D0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0D1B2A"/>
                </a:solidFill>
                <a:latin typeface="Arial"/>
              </a:rPr>
              <a:t>F1-Score por kernel y 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C=0.1</c:v>
                </c:pt>
              </c:strCache>
            </c:strRef>
          </c:tx>
          <c:spPr>
            <a:solidFill>
              <a:srgbClr val="1A4E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rbf</c:v>
                </c:pt>
                <c:pt idx="2">
                  <c:v>poly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0.69820000000000004</c:v>
                </c:pt>
                <c:pt idx="1">
                  <c:v>0.69289999999999996</c:v>
                </c:pt>
                <c:pt idx="2">
                  <c:v>0.67530000000000001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48-4487-8CAF-2E2196208E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C=1.0</c:v>
                </c:pt>
              </c:strCache>
            </c:strRef>
          </c:tx>
          <c:spPr>
            <a:solidFill>
              <a:srgbClr val="009B8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rbf</c:v>
                </c:pt>
                <c:pt idx="2">
                  <c:v>poly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0.69820000000000004</c:v>
                </c:pt>
                <c:pt idx="1">
                  <c:v>0.69340000000000002</c:v>
                </c:pt>
                <c:pt idx="2">
                  <c:v>0.67589999999999995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48-4487-8CAF-2E2196208E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C=10.0</c:v>
                </c:pt>
              </c:strCache>
            </c:strRef>
          </c:tx>
          <c:spPr>
            <a:solidFill>
              <a:srgbClr val="E5952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rbf</c:v>
                </c:pt>
                <c:pt idx="2">
                  <c:v>poly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0.69799999999999995</c:v>
                </c:pt>
                <c:pt idx="1">
                  <c:v>0.69310000000000005</c:v>
                </c:pt>
                <c:pt idx="2">
                  <c:v>0.67620000000000002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48-4487-8CAF-2E2196208E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2"/>
          <c:min val="0.62"/>
        </c:scaling>
        <c:delete val="0"/>
        <c:axPos val="l"/>
        <c:majorGridlines>
          <c:spPr>
            <a:ln w="6350" cap="flat">
              <a:solidFill>
                <a:srgbClr val="D0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388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B6A6-7A04-D0A3-EE8B-BC5A71D6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9AC37-1D47-B4D0-E069-00E5587D6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DFE1B-051A-8CCD-77C5-936FB1FDD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86A38-BB4E-274F-57A0-AACA91299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17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E405-D58D-28A0-A10F-4BBDEE5D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B9ED6-899E-0B13-6387-85B0B76A2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FC29E-3E7A-6AF8-8CAA-31A9AA55B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8B082-F68A-5B40-9915-342E80BE0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44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3752-A302-1F12-1780-A72B350D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41B85-9E69-4F6B-9874-19BCF3579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43217-7EDA-ACA6-62B2-AF3A9DB55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52119-A5CC-D5D9-F2C2-77AF60165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52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🎾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Resultados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Partidos de Tenis ATP (2000 – 2026)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633472"/>
            <a:ext cx="4572000" cy="36576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ENTREGA  ·  INTELIGENCIA ARTIFICIAL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Echeverri Rueda  ·  2231888  ·  Grupo E1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2651760" cy="292608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Preprocesamiento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3977640"/>
            <a:ext cx="2651760" cy="292608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39776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 Clásicos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3977640"/>
            <a:ext cx="2651760" cy="292608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39776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4325112"/>
            <a:ext cx="2651760" cy="292608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3251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29000" y="4325112"/>
            <a:ext cx="2651760" cy="292608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43251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t-SNE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4325112"/>
            <a:ext cx="2651760" cy="292608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43251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Planteamiento del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Tennis 2000-2023  ·  Clasificación binaria supervisada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1920240" cy="960120"/>
          </a:xfrm>
          <a:prstGeom prst="rect">
            <a:avLst/>
          </a:prstGeom>
          <a:solidFill>
            <a:srgbClr val="0D1B2A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67,288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7472" y="1708099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ATP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70432"/>
            <a:ext cx="1920240" cy="960120"/>
          </a:xfrm>
          <a:prstGeom prst="rect">
            <a:avLst/>
          </a:prstGeom>
          <a:solidFill>
            <a:srgbClr val="0D1B2A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243584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708099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clases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0288" y="1170432"/>
            <a:ext cx="1920240" cy="960120"/>
          </a:xfrm>
          <a:prstGeom prst="rect">
            <a:avLst/>
          </a:prstGeom>
          <a:solidFill>
            <a:srgbClr val="0D1B2A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0288" y="1243584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90288" y="1708099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 / test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11696" y="1170432"/>
            <a:ext cx="1920240" cy="960120"/>
          </a:xfrm>
          <a:prstGeom prst="rect">
            <a:avLst/>
          </a:prstGeom>
          <a:solidFill>
            <a:srgbClr val="0D1B2A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11696" y="1243584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11696" y="1708099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modelo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286000"/>
            <a:ext cx="40690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2286000"/>
            <a:ext cx="59436" cy="1417320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350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Objetivo: Victoria_P1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2651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Gana el Jugador 1
</a:t>
            </a:r>
            <a:r>
              <a:rPr lang="en-US" sz="1050" b="1" dirty="0">
                <a:solidFill>
                  <a:srgbClr val="E5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Gana el Jugador 2
</a:t>
            </a: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Baseline aleatorio: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todo modelo debe superarlo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286000"/>
            <a:ext cx="4206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2286000"/>
            <a:ext cx="59436" cy="141732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2350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utilizadas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36592" y="2651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Rank_1, Rank_2, Pts_1, Pts_2
</a:t>
            </a:r>
            <a:r>
              <a:rPr lang="en-US" sz="105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Odd_1, Odd_2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(cuotas de apuesta)
Diff_Rank, Diff_Pts, Diff_Odd
</a:t>
            </a:r>
            <a:r>
              <a:rPr lang="en-US" sz="10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(Clay · Grass · Hard · Carpet)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" y="3840480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ATP Tennis 2000-2026  ·  67,288 filas × 21 columnas  ·  Clases perfectamente balanceadas (50/50)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 (EDA)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 y su relación con Victoria_P1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029200" cy="150876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577840" y="1115568"/>
            <a:ext cx="32004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77840" y="1115568"/>
            <a:ext cx="59436" cy="82296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42432" y="1161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dominante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42432" y="14264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Court = 54.6% de los partidos. Clay = 31.9%. Grass = 11.1%. Carpet residual (2.4%).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048256"/>
            <a:ext cx="32004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2048256"/>
            <a:ext cx="59436" cy="82296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42432" y="2093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Diff_Rank simétrico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42432" y="23591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centrada en 0 (media ≈ 0.31). Indica que ambos jugadores tienen rankings similares en promedio.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980944"/>
            <a:ext cx="32004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77840" y="2980944"/>
            <a:ext cx="59436" cy="82296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42432" y="3026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Odd_1 asimétrico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42432" y="3291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= 1.75. IQR: 1.34–2.75. Outliers extremos →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Capeados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13.0.</a:t>
            </a:r>
            <a:endParaRPr lang="en-US" sz="9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724911"/>
            <a:ext cx="5029200" cy="1956163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20" name="Text 16"/>
          <p:cNvSpPr/>
          <p:nvPr/>
        </p:nvSpPr>
        <p:spPr>
          <a:xfrm>
            <a:off x="411480" y="4722223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Cuota menor y ranking mejor → mayor P(Victoria_P1). La superficie tiene efecto sutil.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577840" y="3794760"/>
            <a:ext cx="32004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669280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cuotas de apuesta ya integran la mayoría de la información predictiva.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etapas obligatorias justificadas según el comportamiento del dataset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20624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640080" cy="1444752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640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3075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de Tipos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numéricas (Rank, Pts, Odd) tenían strings mezclados. Se </a:t>
            </a:r>
            <a:r>
              <a:rPr lang="en-US" sz="10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convirtieron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tratamiento posterior.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1170432"/>
            <a:ext cx="420624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36592" y="1170432"/>
            <a:ext cx="640080" cy="1444752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36592" y="1170432"/>
            <a:ext cx="640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3075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Nulos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64592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por MEDIANA (robusta a outliers).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770632"/>
            <a:ext cx="420624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770632"/>
            <a:ext cx="640080" cy="1444752"/>
          </a:xfrm>
          <a:prstGeom prst="rect">
            <a:avLst/>
          </a:prstGeom>
          <a:solidFill>
            <a:srgbClr val="E5952C"/>
          </a:solidFill>
          <a:ln w="12700">
            <a:solidFill>
              <a:srgbClr val="E59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770632"/>
            <a:ext cx="640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9077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Outliers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24612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outliers </a:t>
            </a:r>
            <a:r>
              <a:rPr lang="en-US" sz="10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Odd_1 y Odd_2 </a:t>
            </a:r>
            <a:r>
              <a:rPr lang="en-US" sz="10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fueron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capeados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13.0. Se acotan valores extremos conservando todas las filas. Preserva información sin distorsionar modelos de distancia.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2770632"/>
            <a:ext cx="420624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36592" y="2770632"/>
            <a:ext cx="640080" cy="1444752"/>
          </a:xfrm>
          <a:prstGeom prst="rect">
            <a:avLst/>
          </a:prstGeom>
          <a:solidFill>
            <a:srgbClr val="1BB36A"/>
          </a:solidFill>
          <a:ln w="12700">
            <a:solidFill>
              <a:srgbClr val="1BB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2770632"/>
            <a:ext cx="6400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29077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&amp; Estandarización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24612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000" dirty="0"/>
              <a:t>Surface se convirtió en columnas binarias. Las variables numéricas se estandarizaron a media 0 y desviación 1 para que SVM, K-Means y DNN no sean afectados por diferencias de escala. El </a:t>
            </a:r>
            <a:r>
              <a:rPr lang="es-ES" sz="1000" dirty="0" err="1"/>
              <a:t>split</a:t>
            </a:r>
            <a:r>
              <a:rPr lang="es-ES" sz="1000" dirty="0"/>
              <a:t> 80/20 fue estratificado para preservar el balance 50/50 en ambos conjuntos.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25">
            <a:extLst>
              <a:ext uri="{FF2B5EF4-FFF2-40B4-BE49-F238E27FC236}">
                <a16:creationId xmlns:a16="http://schemas.microsoft.com/office/drawing/2014/main" id="{72C83A92-800E-C41A-EDC3-0EA5BF9821AA}"/>
              </a:ext>
            </a:extLst>
          </p:cNvPr>
          <p:cNvSpPr/>
          <p:nvPr/>
        </p:nvSpPr>
        <p:spPr>
          <a:xfrm>
            <a:off x="4806478" y="2261835"/>
            <a:ext cx="779200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A4A79B9E-746E-8370-6C61-EB822E775D8A}"/>
              </a:ext>
            </a:extLst>
          </p:cNvPr>
          <p:cNvSpPr/>
          <p:nvPr/>
        </p:nvSpPr>
        <p:spPr>
          <a:xfrm>
            <a:off x="4093247" y="2261835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25">
            <a:extLst>
              <a:ext uri="{FF2B5EF4-FFF2-40B4-BE49-F238E27FC236}">
                <a16:creationId xmlns:a16="http://schemas.microsoft.com/office/drawing/2014/main" id="{72A65862-3CD4-96BD-BE1B-0B0A0E1962BE}"/>
              </a:ext>
            </a:extLst>
          </p:cNvPr>
          <p:cNvSpPr/>
          <p:nvPr/>
        </p:nvSpPr>
        <p:spPr>
          <a:xfrm>
            <a:off x="3343439" y="2261835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0E7BBE8D-2CDE-DA13-40C2-7522A4D531C0}"/>
              </a:ext>
            </a:extLst>
          </p:cNvPr>
          <p:cNvSpPr/>
          <p:nvPr/>
        </p:nvSpPr>
        <p:spPr>
          <a:xfrm>
            <a:off x="2586446" y="2261835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47576FCE-EB60-D5BC-A144-D4F6C328343B}"/>
              </a:ext>
            </a:extLst>
          </p:cNvPr>
          <p:cNvSpPr/>
          <p:nvPr/>
        </p:nvSpPr>
        <p:spPr>
          <a:xfrm>
            <a:off x="1829453" y="2263140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A9E1A036-A333-24FB-E1C5-738F166593C8}"/>
              </a:ext>
            </a:extLst>
          </p:cNvPr>
          <p:cNvSpPr/>
          <p:nvPr/>
        </p:nvSpPr>
        <p:spPr>
          <a:xfrm>
            <a:off x="282158" y="2267712"/>
            <a:ext cx="1554480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Clasificación — Resultados (mejores configs)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Accuracy · Precision · Recall · F1 · Especificidad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2158" y="1289304"/>
            <a:ext cx="53035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8734" y="12893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3214" y="1289304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23022" y="1289304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72830" y="1289304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22638" y="1289304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72446" y="1289304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2158" y="1609344"/>
            <a:ext cx="1554480" cy="329184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8734" y="16093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 (mejor)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36638" y="1609344"/>
            <a:ext cx="749808" cy="329184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73214" y="160934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86446" y="1609344"/>
            <a:ext cx="749808" cy="329184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23022" y="160934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36254" y="1609344"/>
            <a:ext cx="749808" cy="329184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72830" y="160934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69.0%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86062" y="1609344"/>
            <a:ext cx="749808" cy="329184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22638" y="160934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68.6%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35870" y="1609344"/>
            <a:ext cx="749808" cy="329184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2446" y="1609344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2158" y="1938528"/>
            <a:ext cx="1554480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8734" y="193852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(mejor) 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36638" y="1938528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73214" y="1938528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69.3%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86446" y="1938528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23022" y="1938528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6254" y="1938528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72830" y="1938528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86062" y="1938528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22638" y="1938528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70.2%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35870" y="1938528"/>
            <a:ext cx="749808" cy="329184"/>
          </a:xfrm>
          <a:prstGeom prst="rect">
            <a:avLst/>
          </a:prstGeom>
          <a:solidFill>
            <a:srgbClr val="009B8D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72446" y="1938528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8734" y="226771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(mejor) </a:t>
            </a:r>
            <a:endParaRPr lang="en-US" sz="950" dirty="0">
              <a:solidFill>
                <a:schemeClr val="bg2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1873214" y="226771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950" b="1" dirty="0">
              <a:solidFill>
                <a:schemeClr val="bg2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2623022" y="226771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69.5%</a:t>
            </a:r>
            <a:endParaRPr lang="en-US" sz="950" b="1" dirty="0">
              <a:solidFill>
                <a:schemeClr val="bg2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3372830" y="226771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950" b="1" dirty="0">
              <a:solidFill>
                <a:schemeClr val="bg2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122638" y="226771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69.8%</a:t>
            </a:r>
            <a:endParaRPr lang="en-US" sz="950" b="1" dirty="0">
              <a:solidFill>
                <a:schemeClr val="bg2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4872446" y="226771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69.3%</a:t>
            </a:r>
            <a:endParaRPr lang="en-US" sz="950" b="1" dirty="0">
              <a:solidFill>
                <a:schemeClr val="bg2"/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82158" y="2596896"/>
            <a:ext cx="1554480" cy="329184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8734" y="259689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(mejor)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836638" y="2596896"/>
            <a:ext cx="749808" cy="329184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873214" y="2596896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86446" y="2596896"/>
            <a:ext cx="749808" cy="329184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623022" y="2596896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68.5%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36254" y="2596896"/>
            <a:ext cx="749808" cy="329184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372830" y="2596896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086062" y="2596896"/>
            <a:ext cx="749808" cy="329184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122638" y="2596896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35870" y="2596896"/>
            <a:ext cx="749808" cy="329184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72446" y="2596896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411480" y="3010988"/>
            <a:ext cx="433556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confusión de los 4 modelos sobre el conjunto de prueba (13,458 muestras)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— GNB &amp; Decision Tree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hiperparámetros clave sobre el desempeño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411480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43000"/>
            <a:ext cx="59436" cy="3566160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207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Naive Bayes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Hiperparámetro: var_smoothing</a:t>
            </a:r>
            <a:endParaRPr lang="en-US" sz="1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84048" y="1783080"/>
          <a:ext cx="4023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3977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Rendimiento prácticamente PLANO: GNB es insensible a var_smoothing.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var_smoothing = 1e-3  |  F1 = 0.6862  |  Accuracy = 0.6847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81728" y="1143000"/>
            <a:ext cx="411480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81728" y="1143000"/>
            <a:ext cx="59436" cy="3566160"/>
          </a:xfrm>
          <a:prstGeom prst="rect">
            <a:avLst/>
          </a:prstGeom>
          <a:solidFill>
            <a:srgbClr val="E5952C"/>
          </a:solidFill>
          <a:ln w="12700">
            <a:solidFill>
              <a:srgbClr val="E59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46320" y="1207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Hiperparámetros: </a:t>
            </a:r>
            <a:r>
              <a:rPr lang="en-US" sz="1000" i="1" dirty="0" err="1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r>
              <a:rPr lang="en-US" sz="100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criterion</a:t>
            </a:r>
            <a:endParaRPr lang="en-US" sz="100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4718304" y="1783080"/>
          <a:ext cx="4023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4846320" y="3977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Pico en max_depth = 5. Sin límite → sobreajuste severo (F1 cae a 0.608).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criterion=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=5  |  F1 = 0.7017  |  Accuracy = 0.6933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Ablation &amp; Feature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modelo de la entrega anterior · Hiperparámetros: n_estimators × max_depth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846320" y="1115568"/>
            <a:ext cx="39319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46320" y="1115568"/>
            <a:ext cx="59436" cy="123444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10912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Mejor configuración RF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10912" y="1490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14904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10912" y="16504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16504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10912" y="1810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18105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10912" y="19705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19705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0.6969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10912" y="21305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21305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0.6934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0" y="2450592"/>
            <a:ext cx="393192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46320" y="2450592"/>
            <a:ext cx="59436" cy="1783080"/>
          </a:xfrm>
          <a:prstGeom prst="rect">
            <a:avLst/>
          </a:prstGeom>
          <a:solidFill>
            <a:srgbClr val="1BB36A"/>
          </a:solidFill>
          <a:ln w="12700">
            <a:solidFill>
              <a:srgbClr val="1BB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10912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Top Features (importancia)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010912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Diff_Odd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09360" y="2862072"/>
            <a:ext cx="2098548" cy="164592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53628" y="2834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25.5%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10912" y="30906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Odd_1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309360" y="3118104"/>
            <a:ext cx="1810512" cy="164592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165592" y="30906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10912" y="33467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Odd_2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309360" y="3374136"/>
            <a:ext cx="1645920" cy="164592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001000" y="3346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010912" y="3602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Diff_Rank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309360" y="3630168"/>
            <a:ext cx="781812" cy="164592"/>
          </a:xfrm>
          <a:prstGeom prst="rect">
            <a:avLst/>
          </a:prstGeom>
          <a:solidFill>
            <a:srgbClr val="6B8FAA"/>
          </a:solidFill>
          <a:ln w="12700">
            <a:solidFill>
              <a:srgbClr val="6B8F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36892" y="36027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010912" y="38587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Diff_Pts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309360" y="3886200"/>
            <a:ext cx="617220" cy="164592"/>
          </a:xfrm>
          <a:prstGeom prst="rect">
            <a:avLst/>
          </a:prstGeom>
          <a:solidFill>
            <a:srgbClr val="6B8FAA"/>
          </a:solidFill>
          <a:ln w="12700">
            <a:solidFill>
              <a:srgbClr val="6B8F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972300" y="3858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47472" y="4343400"/>
            <a:ext cx="843991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02920" y="438912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 cuotas (Diff_Odd, Odd_1, Odd_2) concentran ~67% de la importancia total. La superficie y puntos de ranking tienen impacto marginal.</a:t>
            </a:r>
            <a:endParaRPr lang="en-US" sz="1000" dirty="0"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72D6758D-F878-D344-30B7-D5537DACA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" y="1358127"/>
            <a:ext cx="4623660" cy="27396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Ablation Study (kernel × 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sobre muestra estratificada de 8,000 ejemplos (complejidad O(n²–n³))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347472" y="1115568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115568"/>
            <a:ext cx="310896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69280" y="1115568"/>
            <a:ext cx="59436" cy="1005840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33872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linear &gt; rbf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33872" y="14630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supera a RBF en F1 (0.698 vs 0.693). La frontera de decisión en este problema es aproximadamente lineal.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276856"/>
            <a:ext cx="310896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69280" y="2276856"/>
            <a:ext cx="59436" cy="100584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33872" y="2350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es estable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33872" y="26243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C=0.1 a C=10 no produce ganancias relevantes. El margen de holgura ya está bien calibrado con C=1.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3438144"/>
            <a:ext cx="310896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0" y="3438144"/>
            <a:ext cx="59436" cy="1005840"/>
          </a:xfrm>
          <a:prstGeom prst="rect">
            <a:avLst/>
          </a:prstGeom>
          <a:solidFill>
            <a:srgbClr val="1BB36A"/>
          </a:solidFill>
          <a:ln w="12700">
            <a:solidFill>
              <a:srgbClr val="1BB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33872" y="3511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configuración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33872" y="37856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kernel=linear, C=1.0  →  F1=0.7014  |  Recall=0.7426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poly es el peor en todos los regímenes.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Regresión Lineal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Odd_1 (cuota P1) ~ Rank_1 (posición ATP)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303520" cy="30175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852160" y="1115568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1115568"/>
            <a:ext cx="59436" cy="658368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16752" y="11704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ajustada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16752" y="1371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Odd₁ = 0.00385 · Rank₁ + 1.926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52160" y="1865376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52160" y="1865376"/>
            <a:ext cx="59436" cy="658368"/>
          </a:xfrm>
          <a:prstGeom prst="rect">
            <a:avLst/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16752" y="19202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16752" y="21214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1.6031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52160" y="2615184"/>
            <a:ext cx="29260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852160" y="2615184"/>
            <a:ext cx="59436" cy="65836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16752" y="26700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16752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0.0722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852160" y="3410712"/>
            <a:ext cx="29260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5952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911596" y="345643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</a:t>
            </a:r>
            <a:r>
              <a:rPr lang="en-US" sz="9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R²=0.07 indica que el ranking explica solo ~7% de la variabilidad de la cuota. Las casas de apuestas integran información adicional (forma reciente, head-to-head, </a:t>
            </a:r>
            <a:r>
              <a:rPr lang="en-US" sz="900" dirty="0" err="1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9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Arquitecturas DNN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 (simple) vs Arquitectura B (profunda + regularización)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7472" y="299923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A — Simple (2 capas, ReLU, Adam)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00600" y="29992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B — Profunda + Reg. (4 capas, BN + Dropout)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47472" y="3310128"/>
            <a:ext cx="84582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93192" y="3310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947672" y="33101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770632" y="33101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593592" y="33101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09160" y="33101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24728" y="3310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7472" y="3602736"/>
            <a:ext cx="1554480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93192" y="360273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A (simple)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901952" y="3602736"/>
            <a:ext cx="822960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947672" y="360273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724912" y="3602736"/>
            <a:ext cx="822960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770632" y="360273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547872" y="3602736"/>
            <a:ext cx="1115568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593592" y="360273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0.6952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63440" y="3602736"/>
            <a:ext cx="1115568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709160" y="360273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0.6964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779008" y="3602736"/>
            <a:ext cx="1408176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824728" y="3602736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0.6912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47472" y="3904488"/>
            <a:ext cx="1554480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93192" y="39044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B (profunda+reg)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1901952" y="3904488"/>
            <a:ext cx="822960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1947672" y="39044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2724912" y="3904488"/>
            <a:ext cx="822960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2770632" y="39044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547872" y="3904488"/>
            <a:ext cx="1115568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593592" y="3904488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0.6909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663440" y="3904488"/>
            <a:ext cx="1115568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709160" y="3904488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0.6910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5779008" y="3904488"/>
            <a:ext cx="1408176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5824728" y="3904488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0.6904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347472" y="4498848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DNN: LR=1e-3 + Adam (ReLU) es la </a:t>
            </a:r>
            <a:r>
              <a:rPr lang="en-US" sz="950" i="1" dirty="0" err="1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r>
              <a:rPr lang="en-US" sz="95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óptima</a:t>
            </a:r>
            <a:endParaRPr lang="en-US" sz="950" dirty="0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17F4D100-A4B3-A0DB-1492-87FD1258C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97" y="1042416"/>
            <a:ext cx="6864531" cy="20224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90D3A-0216-7BE7-113D-440CAC8A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7BDF48-B37F-CE78-C20A-14472DBC28DA}"/>
              </a:ext>
            </a:extLst>
          </p:cNvPr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C66057-81D8-44C3-4E4C-1ED65A69D999}"/>
              </a:ext>
            </a:extLst>
          </p:cNvPr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Arquitecturas DNN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D05B86-4969-65FD-4B49-026409D00E62}"/>
              </a:ext>
            </a:extLst>
          </p:cNvPr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 (simple) vs Arquitectura B (profunda + regularización)</a:t>
            </a:r>
            <a:endParaRPr lang="en-US" sz="11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B4553C-E5AB-A6E8-E8C3-31B57BEC9F4C}"/>
              </a:ext>
            </a:extLst>
          </p:cNvPr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569348A-38CC-B159-0E30-E97A6FC3317D}"/>
              </a:ext>
            </a:extLst>
          </p:cNvPr>
          <p:cNvSpPr/>
          <p:nvPr/>
        </p:nvSpPr>
        <p:spPr>
          <a:xfrm>
            <a:off x="347472" y="299923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A — Simple (2 capas, ReLU, Adam)</a:t>
            </a:r>
            <a:endParaRPr lang="en-US" sz="10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0912016-E415-EE6E-2444-7EE061D0D4ED}"/>
              </a:ext>
            </a:extLst>
          </p:cNvPr>
          <p:cNvSpPr/>
          <p:nvPr/>
        </p:nvSpPr>
        <p:spPr>
          <a:xfrm>
            <a:off x="4800600" y="29992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B — Profunda + Reg. (4 capas, BN + Dropout)</a:t>
            </a:r>
            <a:endParaRPr lang="en-US" sz="1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A09022A-0F42-31AC-A667-78270DC3B77A}"/>
              </a:ext>
            </a:extLst>
          </p:cNvPr>
          <p:cNvSpPr/>
          <p:nvPr/>
        </p:nvSpPr>
        <p:spPr>
          <a:xfrm>
            <a:off x="347472" y="3310128"/>
            <a:ext cx="84582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7E78C99-42F9-25C6-168C-14937A1EF7A5}"/>
              </a:ext>
            </a:extLst>
          </p:cNvPr>
          <p:cNvSpPr/>
          <p:nvPr/>
        </p:nvSpPr>
        <p:spPr>
          <a:xfrm>
            <a:off x="393192" y="3310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DE9C4B2-9F41-D6E9-98C0-7B0C0B6F8C30}"/>
              </a:ext>
            </a:extLst>
          </p:cNvPr>
          <p:cNvSpPr/>
          <p:nvPr/>
        </p:nvSpPr>
        <p:spPr>
          <a:xfrm>
            <a:off x="1947672" y="33101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endParaRPr lang="en-US" sz="9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D753E87-47EE-599C-04AC-93BEE91978F9}"/>
              </a:ext>
            </a:extLst>
          </p:cNvPr>
          <p:cNvSpPr/>
          <p:nvPr/>
        </p:nvSpPr>
        <p:spPr>
          <a:xfrm>
            <a:off x="2770632" y="33101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9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60DFD33-B4B3-C17A-9D08-7AC0F3288A63}"/>
              </a:ext>
            </a:extLst>
          </p:cNvPr>
          <p:cNvSpPr/>
          <p:nvPr/>
        </p:nvSpPr>
        <p:spPr>
          <a:xfrm>
            <a:off x="3593592" y="33101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CCBCF78-D7DD-4A5C-58A9-94826364ECEE}"/>
              </a:ext>
            </a:extLst>
          </p:cNvPr>
          <p:cNvSpPr/>
          <p:nvPr/>
        </p:nvSpPr>
        <p:spPr>
          <a:xfrm>
            <a:off x="4709160" y="33101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371D0B7-A271-FBF7-70BE-E3D95C77B387}"/>
              </a:ext>
            </a:extLst>
          </p:cNvPr>
          <p:cNvSpPr/>
          <p:nvPr/>
        </p:nvSpPr>
        <p:spPr>
          <a:xfrm>
            <a:off x="5824728" y="331012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95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EE1ACD9-C747-0587-9723-9B712DAA2B3E}"/>
              </a:ext>
            </a:extLst>
          </p:cNvPr>
          <p:cNvSpPr/>
          <p:nvPr/>
        </p:nvSpPr>
        <p:spPr>
          <a:xfrm>
            <a:off x="347472" y="3602736"/>
            <a:ext cx="1554480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7B85E5B-0F19-9A56-69F5-FEBCDB72533A}"/>
              </a:ext>
            </a:extLst>
          </p:cNvPr>
          <p:cNvSpPr/>
          <p:nvPr/>
        </p:nvSpPr>
        <p:spPr>
          <a:xfrm>
            <a:off x="393192" y="360273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A (simple)</a:t>
            </a:r>
            <a:endParaRPr lang="en-US" sz="95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609B73BA-ACA7-8FC3-9E77-14592C43E0CD}"/>
              </a:ext>
            </a:extLst>
          </p:cNvPr>
          <p:cNvSpPr/>
          <p:nvPr/>
        </p:nvSpPr>
        <p:spPr>
          <a:xfrm>
            <a:off x="1901952" y="3602736"/>
            <a:ext cx="822960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2D601AC-C3E0-D79F-2D97-472B9C6C6395}"/>
              </a:ext>
            </a:extLst>
          </p:cNvPr>
          <p:cNvSpPr/>
          <p:nvPr/>
        </p:nvSpPr>
        <p:spPr>
          <a:xfrm>
            <a:off x="1947672" y="360273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7EFA7A3-5858-C54D-386E-D3263C72EED3}"/>
              </a:ext>
            </a:extLst>
          </p:cNvPr>
          <p:cNvSpPr/>
          <p:nvPr/>
        </p:nvSpPr>
        <p:spPr>
          <a:xfrm>
            <a:off x="2724912" y="3602736"/>
            <a:ext cx="822960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501AD84-9620-1A95-EA47-A3F3AA7EAFFF}"/>
              </a:ext>
            </a:extLst>
          </p:cNvPr>
          <p:cNvSpPr/>
          <p:nvPr/>
        </p:nvSpPr>
        <p:spPr>
          <a:xfrm>
            <a:off x="2770632" y="360273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534164AF-C993-2068-7B9B-DDB033F15AE7}"/>
              </a:ext>
            </a:extLst>
          </p:cNvPr>
          <p:cNvSpPr/>
          <p:nvPr/>
        </p:nvSpPr>
        <p:spPr>
          <a:xfrm>
            <a:off x="3547872" y="3602736"/>
            <a:ext cx="1115568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CF0503A-1E80-0381-91C0-AB6425F01E2A}"/>
              </a:ext>
            </a:extLst>
          </p:cNvPr>
          <p:cNvSpPr/>
          <p:nvPr/>
        </p:nvSpPr>
        <p:spPr>
          <a:xfrm>
            <a:off x="3593592" y="360273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0.6952</a:t>
            </a:r>
            <a:endParaRPr lang="en-US" sz="95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0E987A43-79AD-3565-89FF-4902B2FAC620}"/>
              </a:ext>
            </a:extLst>
          </p:cNvPr>
          <p:cNvSpPr/>
          <p:nvPr/>
        </p:nvSpPr>
        <p:spPr>
          <a:xfrm>
            <a:off x="4663440" y="3602736"/>
            <a:ext cx="1115568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82C6CC76-F654-F8C5-FC19-EE93C269F0E4}"/>
              </a:ext>
            </a:extLst>
          </p:cNvPr>
          <p:cNvSpPr/>
          <p:nvPr/>
        </p:nvSpPr>
        <p:spPr>
          <a:xfrm>
            <a:off x="4709160" y="3602736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0.6964</a:t>
            </a:r>
            <a:endParaRPr lang="en-US" sz="95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CC07E3A6-15DE-24C7-AC52-4FEC283409EB}"/>
              </a:ext>
            </a:extLst>
          </p:cNvPr>
          <p:cNvSpPr/>
          <p:nvPr/>
        </p:nvSpPr>
        <p:spPr>
          <a:xfrm>
            <a:off x="5779008" y="3602736"/>
            <a:ext cx="1408176" cy="301752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BDC39903-C9C9-C57C-6EE4-746261A3F5E9}"/>
              </a:ext>
            </a:extLst>
          </p:cNvPr>
          <p:cNvSpPr/>
          <p:nvPr/>
        </p:nvSpPr>
        <p:spPr>
          <a:xfrm>
            <a:off x="5824728" y="3602736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0.6912</a:t>
            </a:r>
            <a:endParaRPr lang="en-US" sz="95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BBC0A489-9B96-D2B4-7E52-1FE6B1D3CD1E}"/>
              </a:ext>
            </a:extLst>
          </p:cNvPr>
          <p:cNvSpPr/>
          <p:nvPr/>
        </p:nvSpPr>
        <p:spPr>
          <a:xfrm>
            <a:off x="347472" y="3904488"/>
            <a:ext cx="1554480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9480CE50-633E-4418-C18C-88AB250AE9D5}"/>
              </a:ext>
            </a:extLst>
          </p:cNvPr>
          <p:cNvSpPr/>
          <p:nvPr/>
        </p:nvSpPr>
        <p:spPr>
          <a:xfrm>
            <a:off x="393192" y="39044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B (profunda+reg)</a:t>
            </a:r>
            <a:endParaRPr lang="en-US" sz="95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31B17D45-A145-DAA4-8961-DEDF4E32D2DF}"/>
              </a:ext>
            </a:extLst>
          </p:cNvPr>
          <p:cNvSpPr/>
          <p:nvPr/>
        </p:nvSpPr>
        <p:spPr>
          <a:xfrm>
            <a:off x="1901952" y="3904488"/>
            <a:ext cx="822960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C42D72F5-56CA-5F73-5DC2-C155348202DB}"/>
              </a:ext>
            </a:extLst>
          </p:cNvPr>
          <p:cNvSpPr/>
          <p:nvPr/>
        </p:nvSpPr>
        <p:spPr>
          <a:xfrm>
            <a:off x="1947672" y="39044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32DE7013-899C-E66F-087F-82C3599EA067}"/>
              </a:ext>
            </a:extLst>
          </p:cNvPr>
          <p:cNvSpPr/>
          <p:nvPr/>
        </p:nvSpPr>
        <p:spPr>
          <a:xfrm>
            <a:off x="2724912" y="3904488"/>
            <a:ext cx="822960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0FC6662-E34E-87A6-A92C-A71872720A4B}"/>
              </a:ext>
            </a:extLst>
          </p:cNvPr>
          <p:cNvSpPr/>
          <p:nvPr/>
        </p:nvSpPr>
        <p:spPr>
          <a:xfrm>
            <a:off x="2770632" y="39044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FA66C767-D41D-D5F0-1A31-C5030CD8BB4E}"/>
              </a:ext>
            </a:extLst>
          </p:cNvPr>
          <p:cNvSpPr/>
          <p:nvPr/>
        </p:nvSpPr>
        <p:spPr>
          <a:xfrm>
            <a:off x="3547872" y="3904488"/>
            <a:ext cx="1115568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389A257-ACB2-D3B3-B180-6DAFB4F1775C}"/>
              </a:ext>
            </a:extLst>
          </p:cNvPr>
          <p:cNvSpPr/>
          <p:nvPr/>
        </p:nvSpPr>
        <p:spPr>
          <a:xfrm>
            <a:off x="3593592" y="3904488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0.6909</a:t>
            </a:r>
            <a:endParaRPr lang="en-US" sz="950" dirty="0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457BF844-F25D-62F8-B474-84EACDADE9FF}"/>
              </a:ext>
            </a:extLst>
          </p:cNvPr>
          <p:cNvSpPr/>
          <p:nvPr/>
        </p:nvSpPr>
        <p:spPr>
          <a:xfrm>
            <a:off x="4663440" y="3904488"/>
            <a:ext cx="1115568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014140FC-BFB3-9596-2E28-9D6A095DCCB2}"/>
              </a:ext>
            </a:extLst>
          </p:cNvPr>
          <p:cNvSpPr/>
          <p:nvPr/>
        </p:nvSpPr>
        <p:spPr>
          <a:xfrm>
            <a:off x="4709160" y="3904488"/>
            <a:ext cx="1024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0.6910</a:t>
            </a:r>
            <a:endParaRPr lang="en-US" sz="950" dirty="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E1EF8FEB-3CA7-5956-BD2B-5B30EC98DBC3}"/>
              </a:ext>
            </a:extLst>
          </p:cNvPr>
          <p:cNvSpPr/>
          <p:nvPr/>
        </p:nvSpPr>
        <p:spPr>
          <a:xfrm>
            <a:off x="5779008" y="3904488"/>
            <a:ext cx="1408176" cy="301752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07CE87E6-1BDD-8C58-C628-8A027A20D0C7}"/>
              </a:ext>
            </a:extLst>
          </p:cNvPr>
          <p:cNvSpPr/>
          <p:nvPr/>
        </p:nvSpPr>
        <p:spPr>
          <a:xfrm>
            <a:off x="5824728" y="3904488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0.6904</a:t>
            </a:r>
            <a:endParaRPr lang="en-US" sz="95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4DD44347-A981-671D-98A0-5E4AFFD9026D}"/>
              </a:ext>
            </a:extLst>
          </p:cNvPr>
          <p:cNvSpPr/>
          <p:nvPr/>
        </p:nvSpPr>
        <p:spPr>
          <a:xfrm>
            <a:off x="347472" y="4498848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DNN: LR=1e-3 + Adam (ReLU) es la configuración óptima. </a:t>
            </a:r>
            <a:endParaRPr lang="en-US" sz="9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C135106-2250-A1B4-3676-9CB821D0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32" y="1042416"/>
            <a:ext cx="6799217" cy="201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61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Supervisado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DBSCAN sobre muestra de 5,000 ejemplos estandarizados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8458200" cy="144475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47472" y="2578608"/>
            <a:ext cx="8458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del codo + Silhouette Score → k óptimo = 7 (Silhouette = 0.3665)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7472" y="2852928"/>
            <a:ext cx="411480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7472" y="2852928"/>
            <a:ext cx="59436" cy="182880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2064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(k = 7)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2064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194560" y="3246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0.3665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2064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194560" y="3547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12064" y="3849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Accuracy*: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94560" y="38496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12064" y="41513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F1*: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194560" y="41513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2064" y="44714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81728" y="2852928"/>
            <a:ext cx="411480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81728" y="2852928"/>
            <a:ext cx="59436" cy="1828800"/>
          </a:xfrm>
          <a:prstGeom prst="rect">
            <a:avLst/>
          </a:prstGeom>
          <a:solidFill>
            <a:srgbClr val="E5952C"/>
          </a:solidFill>
          <a:ln w="12700">
            <a:solidFill>
              <a:srgbClr val="E59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846320" y="3246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eps: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537960" y="3246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46320" y="3493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min_samples: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37960" y="34930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46320" y="3739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537960" y="37398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46320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Ruido: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537960" y="39867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846320" y="42336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37960" y="42336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0.2141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 — PCA &amp; t-SNE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lineal, preserva varianza global  ·  t-SNE: no lineal, estructura local (2,000 muestras)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7472" y="4142232"/>
            <a:ext cx="8458200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0624" y="4142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907792" y="4142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33872" y="4142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7472" y="4379976"/>
            <a:ext cx="8458200" cy="237744"/>
          </a:xfrm>
          <a:prstGeom prst="rect">
            <a:avLst/>
          </a:prstGeom>
          <a:solidFill>
            <a:srgbClr val="F5F8FC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0624" y="43799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07792" y="43799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global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33872" y="43799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local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7472" y="4617720"/>
            <a:ext cx="8458200" cy="237744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0624" y="46177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(2 PCs)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07792" y="46177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47.88%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33872" y="46177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FA83FA2-3810-526C-6A45-9DE9B3227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386676"/>
            <a:ext cx="8412480" cy="25315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6F020-EEBF-E77C-B408-5E66215B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732B71-090B-0DD7-5169-928A58A17712}"/>
              </a:ext>
            </a:extLst>
          </p:cNvPr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1721F6-4D4A-23B1-5801-F9A0052688AE}"/>
              </a:ext>
            </a:extLst>
          </p:cNvPr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 — PCA &amp; t-SNE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RF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6E399B-3606-DD4B-1161-996DAB72D472}"/>
              </a:ext>
            </a:extLst>
          </p:cNvPr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AD8CD22-1883-49C4-1D9F-3BCD83E55995}"/>
              </a:ext>
            </a:extLst>
          </p:cNvPr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5AF8276-8CE4-B0E4-47F7-F562E5939678}"/>
              </a:ext>
            </a:extLst>
          </p:cNvPr>
          <p:cNvSpPr/>
          <p:nvPr/>
        </p:nvSpPr>
        <p:spPr>
          <a:xfrm>
            <a:off x="420624" y="4142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98AE74A-CAAD-F084-FA4E-B2841790ED2C}"/>
              </a:ext>
            </a:extLst>
          </p:cNvPr>
          <p:cNvSpPr/>
          <p:nvPr/>
        </p:nvSpPr>
        <p:spPr>
          <a:xfrm>
            <a:off x="5833872" y="46177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A9D967C-7011-8565-4843-7FADDA59F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59" y="3757650"/>
            <a:ext cx="6481482" cy="1244651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52E08873-2407-166E-2CAD-3C24C8CD9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818" y="1023060"/>
            <a:ext cx="5466229" cy="258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31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 Final — Todos los Mejores Modelos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D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modelos clásicos, DNN y no supervisado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987552"/>
            <a:ext cx="9144000" cy="41148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7472" y="4407408"/>
            <a:ext cx="2724912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" y="4453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DT (mejor): F1=0.7017 — mejor F1 global en esta entrega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3182114" y="4407408"/>
            <a:ext cx="2724912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64410" y="4453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RF: mejor Accuracy (0.6969) y Especificidad (0.6934) — más equilibrado</a:t>
            </a:r>
            <a:endParaRPr lang="en-US" sz="88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FF3183C-6353-B158-B673-64BD3BEE3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17" y="1183822"/>
            <a:ext cx="6697614" cy="2775855"/>
          </a:xfrm>
          <a:prstGeom prst="rect">
            <a:avLst/>
          </a:prstGeom>
        </p:spPr>
      </p:pic>
      <p:sp>
        <p:nvSpPr>
          <p:cNvPr id="19" name="Shape 6">
            <a:extLst>
              <a:ext uri="{FF2B5EF4-FFF2-40B4-BE49-F238E27FC236}">
                <a16:creationId xmlns:a16="http://schemas.microsoft.com/office/drawing/2014/main" id="{20E1D1BE-FA7D-0F23-EDF8-B0658467BEB5}"/>
              </a:ext>
            </a:extLst>
          </p:cNvPr>
          <p:cNvSpPr/>
          <p:nvPr/>
        </p:nvSpPr>
        <p:spPr>
          <a:xfrm>
            <a:off x="6016756" y="4407408"/>
            <a:ext cx="2724912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4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C41AA52A-F807-4B92-80CC-800A4D7DCB8F}"/>
              </a:ext>
            </a:extLst>
          </p:cNvPr>
          <p:cNvSpPr/>
          <p:nvPr/>
        </p:nvSpPr>
        <p:spPr>
          <a:xfrm>
            <a:off x="6016756" y="4455087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880" b="1" dirty="0"/>
              <a:t>R</a:t>
            </a:r>
            <a:r>
              <a:rPr lang="es-CO" sz="880" b="1" dirty="0">
                <a:solidFill>
                  <a:schemeClr val="bg2"/>
                </a:solidFill>
              </a:rPr>
              <a:t>RF con reducción de dimensionalidad no mejora el desempeño en comparación con RF estándar.</a:t>
            </a:r>
            <a:endParaRPr lang="en-US" sz="88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749808"/>
            <a:ext cx="4572000" cy="36576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118872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47472" cy="118872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47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069848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cuotas (Diff_Odd, Odd_1, Odd_2) concentran ~67% de la importancia predictiva. Las casas de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capturan gran parte de la información relevante.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118872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47472" cy="118872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960120"/>
            <a:ext cx="347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85232" y="1069848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y DNN A lideran en F1 (≈0.698-0.6964)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teniendo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ablation demostró que más de 100 árboles o más de max_depth=10 no aportan mejoras significativas.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931920" cy="118872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347472" cy="118872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347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2395728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bastante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probablemente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debido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casas de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apuestas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 del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ambos </a:t>
            </a:r>
            <a:r>
              <a:rPr lang="en-US" sz="950" dirty="0" err="1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</a:t>
            </a: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286000"/>
            <a:ext cx="3931920" cy="118872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347472" cy="118872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347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85232" y="2395728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clustering no supervisado (K-Means k=7, Silhouette=0.37) descubre grupos coherentes pero no alcanza el desempeño supervisado, como era esperable.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71246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3708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Echeverri Rueda  ·  2231888  ·  Grupo E1  ·  Inteligencia Artificial 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AC54D-284E-1A74-DD14-80EBFA5C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761767-DF6F-FE74-8EC9-63B1D7D4D63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CCD488-0DF2-6309-A4EE-370C2F721DEF}"/>
              </a:ext>
            </a:extLst>
          </p:cNvPr>
          <p:cNvSpPr/>
          <p:nvPr/>
        </p:nvSpPr>
        <p:spPr>
          <a:xfrm>
            <a:off x="36576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07E3EB-C734-9E98-AAC7-2F1EE0A15D3C}"/>
              </a:ext>
            </a:extLst>
          </p:cNvPr>
          <p:cNvSpPr/>
          <p:nvPr/>
        </p:nvSpPr>
        <p:spPr>
          <a:xfrm>
            <a:off x="2286000" y="749808"/>
            <a:ext cx="4572000" cy="36576"/>
          </a:xfrm>
          <a:prstGeom prst="rect">
            <a:avLst/>
          </a:prstGeom>
          <a:solidFill>
            <a:srgbClr val="009B8D"/>
          </a:solidFill>
          <a:ln w="1270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AB3C3FC-669C-770F-3C83-1B27DADDB10B}"/>
              </a:ext>
            </a:extLst>
          </p:cNvPr>
          <p:cNvSpPr/>
          <p:nvPr/>
        </p:nvSpPr>
        <p:spPr>
          <a:xfrm>
            <a:off x="2651760" y="1943100"/>
            <a:ext cx="3931920" cy="1188720"/>
          </a:xfrm>
          <a:prstGeom prst="rect">
            <a:avLst/>
          </a:prstGeom>
          <a:solidFill>
            <a:srgbClr val="152033"/>
          </a:solidFill>
          <a:ln w="12700">
            <a:solidFill>
              <a:srgbClr val="2A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932C38A-96C7-4AC4-AE78-C3BA361E8902}"/>
              </a:ext>
            </a:extLst>
          </p:cNvPr>
          <p:cNvSpPr/>
          <p:nvPr/>
        </p:nvSpPr>
        <p:spPr>
          <a:xfrm>
            <a:off x="2651759" y="197739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otebook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https://drive.google.com/file/d/1YzewGe_jER189N39oDCUD9FmQ1f65HKB/view?usp=sharing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CF20E3C-BE9D-6FA3-FA01-94964E356C36}"/>
              </a:ext>
            </a:extLst>
          </p:cNvPr>
          <p:cNvSpPr/>
          <p:nvPr/>
        </p:nvSpPr>
        <p:spPr>
          <a:xfrm>
            <a:off x="594360" y="371246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65769DB-6309-679E-5E5F-D68CF5023D97}"/>
              </a:ext>
            </a:extLst>
          </p:cNvPr>
          <p:cNvSpPr/>
          <p:nvPr/>
        </p:nvSpPr>
        <p:spPr>
          <a:xfrm>
            <a:off x="457200" y="43708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Echeverri Rueda  ·  2231888  ·  Grupo E1  ·  Inteligencia Artificial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44867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1485</Words>
  <Application>Microsoft Office PowerPoint</Application>
  <PresentationFormat>Presentación en pantalla (16:9)</PresentationFormat>
  <Paragraphs>254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Tercera Entrega IA — Predicción Tenis ATP</dc:title>
  <dc:subject>PptxGenJS Presentation</dc:subject>
  <dc:creator>PptxGenJS</dc:creator>
  <cp:lastModifiedBy>Nicolas Echeverri</cp:lastModifiedBy>
  <cp:revision>4</cp:revision>
  <dcterms:created xsi:type="dcterms:W3CDTF">2026-05-26T05:46:10Z</dcterms:created>
  <dcterms:modified xsi:type="dcterms:W3CDTF">2026-05-26T16:16:24Z</dcterms:modified>
</cp:coreProperties>
</file>